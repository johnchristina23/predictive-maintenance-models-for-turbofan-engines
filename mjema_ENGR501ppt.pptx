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1" r:id="rId5"/>
    <p:sldId id="322" r:id="rId6"/>
    <p:sldId id="342" r:id="rId7"/>
    <p:sldId id="331" r:id="rId8"/>
    <p:sldId id="345" r:id="rId9"/>
    <p:sldId id="295" r:id="rId10"/>
    <p:sldId id="349" r:id="rId11"/>
    <p:sldId id="350" r:id="rId12"/>
    <p:sldId id="351" r:id="rId13"/>
    <p:sldId id="343" r:id="rId14"/>
    <p:sldId id="348" r:id="rId15"/>
    <p:sldId id="346" r:id="rId16"/>
    <p:sldId id="347" r:id="rId17"/>
    <p:sldId id="307" r:id="rId18"/>
    <p:sldId id="344" r:id="rId19"/>
    <p:sldId id="305" r:id="rId20"/>
  </p:sldIdLst>
  <p:sldSz cx="9144000" cy="5143500" type="screen16x9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188">
          <p15:clr>
            <a:srgbClr val="A4A3A4"/>
          </p15:clr>
        </p15:guide>
        <p15:guide id="3" orient="horz" pos="972">
          <p15:clr>
            <a:srgbClr val="A4A3A4"/>
          </p15:clr>
        </p15:guide>
        <p15:guide id="4" orient="horz" pos="756">
          <p15:clr>
            <a:srgbClr val="A4A3A4"/>
          </p15:clr>
        </p15:guide>
        <p15:guide id="5" orient="horz" pos="1080">
          <p15:clr>
            <a:srgbClr val="A4A3A4"/>
          </p15:clr>
        </p15:guide>
        <p15:guide id="6" orient="horz" pos="1404">
          <p15:clr>
            <a:srgbClr val="A4A3A4"/>
          </p15:clr>
        </p15:guide>
        <p15:guide id="7" orient="horz" pos="1296">
          <p15:clr>
            <a:srgbClr val="A4A3A4"/>
          </p15:clr>
        </p15:guide>
        <p15:guide id="8" orient="horz" pos="864">
          <p15:clr>
            <a:srgbClr val="A4A3A4"/>
          </p15:clr>
        </p15:guide>
        <p15:guide id="9" pos="2880">
          <p15:clr>
            <a:srgbClr val="A4A3A4"/>
          </p15:clr>
        </p15:guide>
        <p15:guide id="10" pos="1728">
          <p15:clr>
            <a:srgbClr val="A4A3A4"/>
          </p15:clr>
        </p15:guide>
        <p15:guide id="11" pos="721">
          <p15:clr>
            <a:srgbClr val="A4A3A4"/>
          </p15:clr>
        </p15:guide>
        <p15:guide id="12" pos="1144">
          <p15:clr>
            <a:srgbClr val="A4A3A4"/>
          </p15:clr>
        </p15:guide>
        <p15:guide id="13" pos="3455">
          <p15:clr>
            <a:srgbClr val="A4A3A4"/>
          </p15:clr>
        </p15:guide>
        <p15:guide id="14" pos="5184">
          <p15:clr>
            <a:srgbClr val="A4A3A4"/>
          </p15:clr>
        </p15:guide>
        <p15:guide id="15" pos="2305">
          <p15:clr>
            <a:srgbClr val="A4A3A4"/>
          </p15:clr>
        </p15:guide>
        <p15:guide id="16" pos="40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43"/>
    <p:restoredTop sz="94426"/>
  </p:normalViewPr>
  <p:slideViewPr>
    <p:cSldViewPr snapToObjects="1">
      <p:cViewPr varScale="1">
        <p:scale>
          <a:sx n="103" d="100"/>
          <a:sy n="103" d="100"/>
        </p:scale>
        <p:origin x="1214" y="72"/>
      </p:cViewPr>
      <p:guideLst>
        <p:guide orient="horz" pos="1620"/>
        <p:guide orient="horz" pos="1188"/>
        <p:guide orient="horz" pos="972"/>
        <p:guide orient="horz" pos="756"/>
        <p:guide orient="horz" pos="1080"/>
        <p:guide orient="horz" pos="1404"/>
        <p:guide orient="horz" pos="1296"/>
        <p:guide orient="horz" pos="864"/>
        <p:guide pos="2880"/>
        <p:guide pos="1728"/>
        <p:guide pos="721"/>
        <p:guide pos="1144"/>
        <p:guide pos="3455"/>
        <p:guide pos="5184"/>
        <p:guide pos="2305"/>
        <p:guide pos="40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 varScale="1">
        <p:scale>
          <a:sx n="100" d="100"/>
          <a:sy n="100" d="100"/>
        </p:scale>
        <p:origin x="-4288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013E40-9ED3-8F42-8D0B-2462FA2C39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5E136-52A6-8B44-A245-F432945537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446526-0472-E34E-85DD-9A138E65C802}" type="datetime1">
              <a:rPr lang="en-US" altLang="en-US"/>
              <a:pPr>
                <a:defRPr/>
              </a:pPr>
              <a:t>4/27/2024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51795-217D-F947-9FAC-2B3AB40C1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80203-7696-8E48-B853-EBB7ECAEEB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A675493-86A7-0443-A250-F5990D575D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866D4-699C-F04B-89DF-1BBECC2D92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F313D-5466-AD43-A0B4-A943DB13DA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02A7651-D4D8-214B-B243-EE722F4A4429}" type="datetime1">
              <a:rPr lang="en-US" altLang="en-US"/>
              <a:pPr>
                <a:defRPr/>
              </a:pPr>
              <a:t>4/27/2024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E3B544-965A-474E-BA9E-27F6CEBEC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3591A6-FDEA-044A-AED5-E81A74301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710CB-DDAA-5B42-859A-8C097FE19C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9F16D-0A07-9645-902C-D14C0A026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2C7129-0DD5-1D47-A01A-7DA0B8FCBC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8A6237BE-B993-7740-9852-33FB8209F8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8ACFD8FE-2AD2-AF47-90E4-A97CDF9ADD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3C0C9CBB-C6B2-B049-9206-093CDF24B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5BE978-B522-A143-80AB-001418ED4F42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C7129-0DD5-1D47-A01A-7DA0B8FCBC4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63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DC2044-4A08-E748-A06E-C2B27E5802F1}"/>
              </a:ext>
            </a:extLst>
          </p:cNvPr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6" name="Picture 2" descr="2014_logo_only_reverse.png">
            <a:extLst>
              <a:ext uri="{FF2B5EF4-FFF2-40B4-BE49-F238E27FC236}">
                <a16:creationId xmlns:a16="http://schemas.microsoft.com/office/drawing/2014/main" id="{51D12B78-8139-E644-BCC8-ACA6A44F8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365762" y="3003798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800" b="0" i="0" kern="0" spc="3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65762" y="3507855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000" b="1" i="0" kern="0" cap="none" spc="0" normalizeH="0" baseline="0">
                <a:solidFill>
                  <a:srgbClr val="0C2344"/>
                </a:solidFill>
                <a:latin typeface="Arial"/>
                <a:cs typeface="Arial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BE2BB-0C57-3E4C-A753-F59901215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587" y="1141558"/>
            <a:ext cx="5438775" cy="157420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800"/>
              </a:lnSpc>
              <a:defRPr sz="3400" b="1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CA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94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D2A977-3F56-1649-9B5C-932A97F88A8F}"/>
              </a:ext>
            </a:extLst>
          </p:cNvPr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9" name="Picture 3" descr="s4b282c2015.png">
            <a:extLst>
              <a:ext uri="{FF2B5EF4-FFF2-40B4-BE49-F238E27FC236}">
                <a16:creationId xmlns:a16="http://schemas.microsoft.com/office/drawing/2014/main" id="{BB57D411-10C3-9643-970C-A5D7BF1182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365762" y="3003798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800" b="0" i="0" kern="0" spc="30" baseline="0">
                <a:solidFill>
                  <a:srgbClr val="FFFFFF"/>
                </a:solidFill>
                <a:latin typeface="Arial"/>
                <a:cs typeface="Arial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65762" y="3507855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000" b="1" i="0" kern="0" cap="none" spc="0" normalizeH="0" baseline="0">
                <a:solidFill>
                  <a:srgbClr val="FFFFFF"/>
                </a:solidFill>
                <a:latin typeface="Arial"/>
                <a:cs typeface="Arial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2B14B-758E-084E-BA13-E6F328AC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81" y="1145927"/>
            <a:ext cx="5409982" cy="156983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800"/>
              </a:lnSpc>
              <a:defRPr sz="3400" b="1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4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E32F5F1E-FA2C-CA40-B19B-422E4289F406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7A520048-3B01-6D4F-ABB1-62CF686C9F6C}" type="slidenum">
              <a:rPr lang="en-US" altLang="en-US" sz="900" smtClean="0">
                <a:solidFill>
                  <a:srgbClr val="FFFFFF"/>
                </a:solidFill>
                <a:latin typeface="Whitney Book" pitchFamily="2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solidFill>
                <a:srgbClr val="FFFFFF"/>
              </a:solidFill>
              <a:latin typeface="Whitney Book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BD8F2-58D7-1F4D-89C0-C1F5D61506A4}"/>
              </a:ext>
            </a:extLst>
          </p:cNvPr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2" descr="2014_logo_only_reverse.png">
            <a:extLst>
              <a:ext uri="{FF2B5EF4-FFF2-40B4-BE49-F238E27FC236}">
                <a16:creationId xmlns:a16="http://schemas.microsoft.com/office/drawing/2014/main" id="{B73D1A4D-E646-CF42-8E0B-1F50828E07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A8D1E7E-B601-3641-86D1-05CEAB683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14" y="1131887"/>
            <a:ext cx="7886700" cy="1131887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449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Slide -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BB6FCE-4A9E-894D-AB47-568D04ADACB2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6DB20FED-9292-3648-9FE2-F2D73F362A8A}" type="slidenum">
              <a:rPr lang="en-US" altLang="en-US" sz="900" smtClean="0">
                <a:solidFill>
                  <a:srgbClr val="FFFFFF"/>
                </a:solidFill>
                <a:latin typeface="Whitney Book" pitchFamily="2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solidFill>
                <a:srgbClr val="FFFFFF"/>
              </a:solidFill>
              <a:latin typeface="Whitney Book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78170-6765-0340-9B9D-5B9076E22D52}"/>
              </a:ext>
            </a:extLst>
          </p:cNvPr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3" descr="s4b282c2015.png">
            <a:extLst>
              <a:ext uri="{FF2B5EF4-FFF2-40B4-BE49-F238E27FC236}">
                <a16:creationId xmlns:a16="http://schemas.microsoft.com/office/drawing/2014/main" id="{EB94A9BA-7D90-3545-ADCC-6B0E239A55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BE77B2-1725-364C-8919-4C531602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87" y="1131888"/>
            <a:ext cx="5430376" cy="99377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200"/>
              </a:lnSpc>
              <a:defRPr sz="2800" b="1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858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s4b282c2015.png">
            <a:extLst>
              <a:ext uri="{FF2B5EF4-FFF2-40B4-BE49-F238E27FC236}">
                <a16:creationId xmlns:a16="http://schemas.microsoft.com/office/drawing/2014/main" id="{C5CC1297-7F58-3647-B3F1-062AA1D039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F2E0D4F-D434-DE43-A4CE-A7E215618088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31FA68E0-BB7B-CA40-9EFF-4BCD4E36FA24}" type="slidenum">
              <a:rPr lang="en-US" altLang="en-US" sz="900" smtClean="0">
                <a:cs typeface="Arial" panose="020B0604020202020204" pitchFamily="34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8954" y="1131888"/>
            <a:ext cx="7661438" cy="369728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500">
                <a:latin typeface="Arial"/>
                <a:cs typeface="Arial"/>
              </a:defRPr>
            </a:lvl1pPr>
            <a:lvl2pPr marL="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>
                <a:latin typeface="Arial"/>
                <a:cs typeface="Arial"/>
              </a:defRPr>
            </a:lvl2pPr>
            <a:lvl3pPr marL="540000" indent="-180000">
              <a:lnSpc>
                <a:spcPct val="130000"/>
              </a:lnSpc>
              <a:spcBef>
                <a:spcPts val="0"/>
              </a:spcBef>
              <a:defRPr sz="1500" b="0" i="0">
                <a:latin typeface="Arial"/>
                <a:cs typeface="Arial"/>
              </a:defRPr>
            </a:lvl3pPr>
            <a:lvl4pPr marL="90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latin typeface="Arial"/>
                <a:cs typeface="Arial"/>
              </a:defRPr>
            </a:lvl4pPr>
            <a:lvl5pPr marL="126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latin typeface="Arial"/>
                <a:cs typeface="Arial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82551-CF7F-BB44-8DA7-7DB7D78F9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54" y="560541"/>
            <a:ext cx="7886700" cy="4517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100" b="1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CA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034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2014_logo_only_reverse.png">
            <a:extLst>
              <a:ext uri="{FF2B5EF4-FFF2-40B4-BE49-F238E27FC236}">
                <a16:creationId xmlns:a16="http://schemas.microsoft.com/office/drawing/2014/main" id="{3389ABEF-D5CE-EB4B-8DF1-04E7AB2AD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599D5D24-C50C-AA49-8E96-06282F592868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DA7EBE31-BD8B-4A46-AC67-62556815D290}" type="slidenum">
              <a:rPr lang="en-US" altLang="en-US" sz="900" smtClean="0">
                <a:solidFill>
                  <a:srgbClr val="FFFFFF"/>
                </a:solidFill>
                <a:cs typeface="Arial" panose="020B0604020202020204" pitchFamily="34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8954" y="1131888"/>
            <a:ext cx="7661438" cy="369728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>
                <a:solidFill>
                  <a:srgbClr val="FFFFFF"/>
                </a:solidFill>
                <a:latin typeface="Arial"/>
                <a:cs typeface="Arial"/>
              </a:defRPr>
            </a:lvl2pPr>
            <a:lvl3pPr marL="540000" indent="-180000">
              <a:lnSpc>
                <a:spcPct val="130000"/>
              </a:lnSpc>
              <a:spcBef>
                <a:spcPts val="0"/>
              </a:spcBef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3pPr>
            <a:lvl4pPr marL="90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4pPr>
            <a:lvl5pPr marL="126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D4CC9-2B32-C947-A94E-1B7CE12D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4" y="555526"/>
            <a:ext cx="7886700" cy="43204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800"/>
              </a:lnSpc>
              <a:defRPr sz="2100" b="1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790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627803E-7450-1D4D-B989-93375F8F75B2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8D9C2B68-88E0-EA42-B917-1B9578864DF1}" type="slidenum">
              <a:rPr lang="en-US" altLang="en-US" sz="900" smtClean="0">
                <a:cs typeface="Arial" panose="020B0604020202020204" pitchFamily="34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cs typeface="Arial" panose="020B0604020202020204" pitchFamily="34" charset="0"/>
            </a:endParaRPr>
          </a:p>
        </p:txBody>
      </p:sp>
      <p:pic>
        <p:nvPicPr>
          <p:cNvPr id="5" name="Picture 3" descr="s4b282c2015.png">
            <a:extLst>
              <a:ext uri="{FF2B5EF4-FFF2-40B4-BE49-F238E27FC236}">
                <a16:creationId xmlns:a16="http://schemas.microsoft.com/office/drawing/2014/main" id="{04436965-BB52-7B4A-811E-356741803A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638" y="411510"/>
            <a:ext cx="36353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8954" y="1131888"/>
            <a:ext cx="7661438" cy="369728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500">
                <a:latin typeface="Arial"/>
                <a:cs typeface="Arial"/>
              </a:defRPr>
            </a:lvl1pPr>
            <a:lvl2pPr marL="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>
                <a:latin typeface="Arial"/>
                <a:cs typeface="Arial"/>
              </a:defRPr>
            </a:lvl2pPr>
            <a:lvl3pPr marL="540000" indent="-180000">
              <a:lnSpc>
                <a:spcPct val="130000"/>
              </a:lnSpc>
              <a:spcBef>
                <a:spcPts val="0"/>
              </a:spcBef>
              <a:defRPr sz="1500" b="0" i="0">
                <a:latin typeface="Arial"/>
                <a:cs typeface="Arial"/>
              </a:defRPr>
            </a:lvl3pPr>
            <a:lvl4pPr marL="90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latin typeface="Arial"/>
                <a:cs typeface="Arial"/>
              </a:defRPr>
            </a:lvl4pPr>
            <a:lvl5pPr marL="126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latin typeface="Arial"/>
                <a:cs typeface="Arial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A0920-9910-044C-A5F5-C875F126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5" y="411510"/>
            <a:ext cx="7908520" cy="62333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100"/>
              </a:lnSpc>
              <a:defRPr sz="2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75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E5C37F31-1A46-0E46-8716-80D112089A13}"/>
              </a:ext>
            </a:extLst>
          </p:cNvPr>
          <p:cNvSpPr txBox="1">
            <a:spLocks/>
          </p:cNvSpPr>
          <p:nvPr userDrawn="1"/>
        </p:nvSpPr>
        <p:spPr>
          <a:xfrm flipH="1">
            <a:off x="8588375" y="4732338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fld id="{5FA2A49C-43B4-9148-A2E7-98A78CAA76EA}" type="slidenum">
              <a:rPr lang="en-US" altLang="en-US" sz="900" smtClean="0">
                <a:solidFill>
                  <a:srgbClr val="FFFFFF"/>
                </a:solidFill>
                <a:cs typeface="Arial" panose="020B0604020202020204" pitchFamily="34" charset="0"/>
              </a:rPr>
              <a:pPr algn="r"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t>‹#›</a:t>
            </a:fld>
            <a:endParaRPr lang="en-CA" altLang="en-US" sz="9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2" descr="2014_logo_only_reverse.png">
            <a:extLst>
              <a:ext uri="{FF2B5EF4-FFF2-40B4-BE49-F238E27FC236}">
                <a16:creationId xmlns:a16="http://schemas.microsoft.com/office/drawing/2014/main" id="{78CBB9E3-1C1E-DE49-8310-5A5E2F385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378247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8954" y="1131888"/>
            <a:ext cx="7661438" cy="369728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>
                <a:solidFill>
                  <a:srgbClr val="FFFFFF"/>
                </a:solidFill>
                <a:latin typeface="Arial"/>
                <a:cs typeface="Arial"/>
              </a:defRPr>
            </a:lvl2pPr>
            <a:lvl3pPr marL="540000" indent="-180000">
              <a:lnSpc>
                <a:spcPct val="130000"/>
              </a:lnSpc>
              <a:spcBef>
                <a:spcPts val="0"/>
              </a:spcBef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3pPr>
            <a:lvl4pPr marL="90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4pPr>
            <a:lvl5pPr marL="1260000" indent="-180000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1500" b="0" i="0">
                <a:solidFill>
                  <a:srgbClr val="FFFFFF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01CE3-3085-B645-9614-A980B513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4" y="411510"/>
            <a:ext cx="7949470" cy="648071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2100"/>
              </a:lnSpc>
              <a:defRPr sz="2100" b="1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928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BC_2016_Signature_Wide_282.png">
            <a:extLst>
              <a:ext uri="{FF2B5EF4-FFF2-40B4-BE49-F238E27FC236}">
                <a16:creationId xmlns:a16="http://schemas.microsoft.com/office/drawing/2014/main" id="{33DD662E-8631-024E-8FE3-BD3FF7284D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439863"/>
            <a:ext cx="4770437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76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_2016_UBCStandard_Signature_ReverseRGB72.png">
            <a:extLst>
              <a:ext uri="{FF2B5EF4-FFF2-40B4-BE49-F238E27FC236}">
                <a16:creationId xmlns:a16="http://schemas.microsoft.com/office/drawing/2014/main" id="{F8600279-7B8A-0948-A22C-35CBB55BE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443038"/>
            <a:ext cx="4770437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16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988" r:id="rId1"/>
    <p:sldLayoutId id="2147484989" r:id="rId2"/>
    <p:sldLayoutId id="2147484990" r:id="rId3"/>
    <p:sldLayoutId id="2147484991" r:id="rId4"/>
    <p:sldLayoutId id="2147484992" r:id="rId5"/>
    <p:sldLayoutId id="2147484993" r:id="rId6"/>
    <p:sldLayoutId id="2147484994" r:id="rId7"/>
    <p:sldLayoutId id="2147484995" r:id="rId8"/>
    <p:sldLayoutId id="2147484996" r:id="rId9"/>
    <p:sldLayoutId id="2147484997" r:id="rId10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A51BB6-1E87-3F42-B041-6F691A6B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2" y="832189"/>
            <a:ext cx="7662622" cy="1872208"/>
          </a:xfrm>
        </p:spPr>
        <p:txBody>
          <a:bodyPr/>
          <a:lstStyle/>
          <a:p>
            <a:r>
              <a:rPr lang="en-US" dirty="0"/>
              <a:t>Comparative Analysis of Predictive Maintenance Models for Turbofan Engines Using CNN, LSTM, and Reinforcement Learning.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4F08CE-A34E-0448-B440-70D40117DE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5125" y="3003550"/>
            <a:ext cx="5430838" cy="322263"/>
          </a:xfrm>
        </p:spPr>
        <p:txBody>
          <a:bodyPr/>
          <a:lstStyle/>
          <a:p>
            <a:r>
              <a:rPr lang="en-US" dirty="0"/>
              <a:t>ENGR 501 : Deep and Reinforcement Learning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5F25470-FF13-0993-DA3F-301CDDD43D6C}"/>
              </a:ext>
            </a:extLst>
          </p:cNvPr>
          <p:cNvSpPr txBox="1">
            <a:spLocks/>
          </p:cNvSpPr>
          <p:nvPr/>
        </p:nvSpPr>
        <p:spPr>
          <a:xfrm>
            <a:off x="365125" y="3624966"/>
            <a:ext cx="5430203" cy="18204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000" b="1" i="0" kern="0" cap="none" spc="0" normalizeH="0" baseline="0">
                <a:solidFill>
                  <a:srgbClr val="0C2344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00" b="0" i="0" kern="1200">
                <a:solidFill>
                  <a:schemeClr val="tx1"/>
                </a:solidFill>
                <a:latin typeface="Whitney Book"/>
                <a:ea typeface="MS PGothic" panose="020B0600070205080204" pitchFamily="34" charset="-128"/>
                <a:cs typeface="Whitney Book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 b="0" i="0" kern="1200">
                <a:solidFill>
                  <a:schemeClr val="tx1"/>
                </a:solidFill>
                <a:latin typeface="Whitney Book"/>
                <a:ea typeface="MS PGothic" panose="020B0600070205080204" pitchFamily="34" charset="-128"/>
                <a:cs typeface="Whitney Book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00" b="0" i="0" kern="1200">
                <a:solidFill>
                  <a:schemeClr val="tx1"/>
                </a:solidFill>
                <a:latin typeface="Whitney Book"/>
                <a:ea typeface="MS PGothic" panose="020B0600070205080204" pitchFamily="34" charset="-128"/>
                <a:cs typeface="Whitney Book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" b="0" i="0" kern="1200">
                <a:solidFill>
                  <a:schemeClr val="tx1"/>
                </a:solidFill>
                <a:latin typeface="Whitney Book"/>
                <a:ea typeface="MS PGothic" panose="020B0600070205080204" pitchFamily="34" charset="-128"/>
                <a:cs typeface="Whitney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Presentation by: </a:t>
            </a:r>
            <a:r>
              <a:rPr lang="en-US" sz="1400" dirty="0" err="1"/>
              <a:t>Mjema</a:t>
            </a:r>
            <a:r>
              <a:rPr lang="en-US" sz="1400" dirty="0"/>
              <a:t> Christina John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44E1083B-EB0B-6E44-8131-7ED8D8E69D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Predictive maintenance:</a:t>
            </a:r>
            <a:r>
              <a:rPr lang="en-US" altLang="en-US" b="1" dirty="0"/>
              <a:t>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Preventing unexpected equipment failures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Minimizing downtime in industrial settings.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Traditional Maintenance Practices:</a:t>
            </a:r>
            <a:r>
              <a:rPr lang="en-US" altLang="en-US" b="1" dirty="0"/>
              <a:t>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Reactive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Based on fixed schedules</a:t>
            </a:r>
          </a:p>
          <a:p>
            <a:pPr marL="285750" lvl="1" indent="-285750">
              <a:lnSpc>
                <a:spcPct val="150000"/>
              </a:lnSpc>
            </a:pPr>
            <a:r>
              <a:rPr lang="en-US" altLang="en-US" b="1" dirty="0"/>
              <a:t>Deep learning and reinforcement learning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analyze complex data and optimize maintenance strategies.</a:t>
            </a:r>
          </a:p>
          <a:p>
            <a:pPr marL="285750" lvl="1" indent="-285750">
              <a:lnSpc>
                <a:spcPct val="150000"/>
              </a:lnSpc>
            </a:pPr>
            <a:endParaRPr lang="en-US" alt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DB46B-81BA-0D40-B2D2-49BDA72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ＭＳ Ｐゴシック" charset="-128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61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44E1083B-EB0B-6E44-8131-7ED8D8E69D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Maintenance Policies</a:t>
            </a:r>
            <a:r>
              <a:rPr lang="en-US" altLang="en-US" b="1" dirty="0"/>
              <a:t>: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Run-to-failure (R2F),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Preventive Maintenance (PM),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Condition-Based Maintenance (CBM), 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Predictive Maintenance (</a:t>
            </a:r>
            <a:r>
              <a:rPr lang="en-US" altLang="en-US" b="1" dirty="0" err="1"/>
              <a:t>PdM</a:t>
            </a:r>
            <a:r>
              <a:rPr lang="en-US" altLang="en-US" b="1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rgbClr val="FF0000"/>
                </a:solidFill>
              </a:rPr>
              <a:t>PdM</a:t>
            </a:r>
            <a:r>
              <a:rPr lang="en-US" altLang="en-US" b="1" dirty="0">
                <a:solidFill>
                  <a:srgbClr val="FF0000"/>
                </a:solidFill>
              </a:rPr>
              <a:t> and CBM</a:t>
            </a:r>
            <a:r>
              <a:rPr lang="en-US" altLang="en-US" b="1" dirty="0"/>
              <a:t>: leverage DL and RL techniques to monitor equipment conditions and trigger maintenance based on specific indicators.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Ensuring operational continuity and maximizing asset utilization,  financial implications of downtime.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DB46B-81BA-0D40-B2D2-49BDA72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ＭＳ Ｐゴシック" charset="-128"/>
              </a:rPr>
              <a:t>Background: Maintenance Policies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6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00B1-F0C9-C0F6-253E-7DF90483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8AB3F89D-BFEC-A851-77AC-34EB64F30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54" y="723106"/>
            <a:ext cx="7661438" cy="386486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Kang et al. (2013) proposed a Multi-Layer Perceptron (MLP) for automating prediction of equipment failure in continuous production lines using NASA turbo engine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F01873-A370-486F-651E-D901CF3C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4" y="334683"/>
            <a:ext cx="7886700" cy="451716"/>
          </a:xfrm>
        </p:spPr>
        <p:txBody>
          <a:bodyPr/>
          <a:lstStyle/>
          <a:p>
            <a:r>
              <a:rPr lang="en-US" altLang="en-US" b="1" dirty="0"/>
              <a:t>Review of Previous Research:</a:t>
            </a:r>
            <a:endParaRPr lang="en-US" dirty="0"/>
          </a:p>
        </p:txBody>
      </p:sp>
      <p:pic>
        <p:nvPicPr>
          <p:cNvPr id="6" name="Picture 5" descr="A graph showing the results of a performance&#10;&#10;Description automatically generated with medium confidence">
            <a:extLst>
              <a:ext uri="{FF2B5EF4-FFF2-40B4-BE49-F238E27FC236}">
                <a16:creationId xmlns:a16="http://schemas.microsoft.com/office/drawing/2014/main" id="{08FF2DDB-60AA-2443-6C9A-FF42C200E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911261"/>
            <a:ext cx="5328592" cy="267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2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00B1-F0C9-C0F6-253E-7DF90483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8AB3F89D-BFEC-A851-77AC-34EB64F30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54" y="1000500"/>
            <a:ext cx="7661438" cy="369728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NASA's turbofan engine degradation dataset.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Historical data including operational settings, sensor measurements, and remaining useful life (RUL)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Preprocessing Steps: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Scaling the input features using </a:t>
            </a:r>
            <a:r>
              <a:rPr lang="en-US" altLang="en-US" b="1" dirty="0" err="1"/>
              <a:t>MinMaxScaler</a:t>
            </a:r>
            <a:r>
              <a:rPr lang="en-US" altLang="en-US" b="1" dirty="0"/>
              <a:t> to a range (0 to 1) for CNN and LSTM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Data Formatting: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Structuring the dataset into suitable formats for  CNN and LSTM analysis and model training.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F01873-A370-486F-651E-D901CF3C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Data and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5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ABD4-76DB-8D3B-2C88-612762323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Commonly used for visual imagery, has been adapted to sequential data, enabling the </a:t>
            </a:r>
            <a:r>
              <a:rPr lang="en-US" b="1" dirty="0">
                <a:solidFill>
                  <a:srgbClr val="FF0000"/>
                </a:solidFill>
              </a:rPr>
              <a:t>extraction of features and patterns from sensor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CNN Architecture</a:t>
            </a: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6901-4426-3002-B9E6-640C1FDD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04" y="2271732"/>
            <a:ext cx="8926265" cy="15961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ABD4-76DB-8D3B-2C88-612762323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Capable of </a:t>
            </a:r>
            <a:r>
              <a:rPr lang="en-US" b="1" dirty="0">
                <a:solidFill>
                  <a:srgbClr val="FF0000"/>
                </a:solidFill>
              </a:rPr>
              <a:t>learning long-term dependencies in sequential data</a:t>
            </a:r>
            <a:r>
              <a:rPr lang="en-US" b="1" dirty="0"/>
              <a:t>, enabling the prediction of RUL of engines by analyzing temporal engine data, suitable for time series forecasting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LSTM Architecture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36686-0C12-60B8-3464-10E667AB1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07904" y="2045828"/>
            <a:ext cx="2088232" cy="275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0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ABD4-76DB-8D3B-2C88-612762323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subfield of machine learning where an agent learns to make </a:t>
            </a:r>
            <a:r>
              <a:rPr lang="en-US" b="1" dirty="0">
                <a:solidFill>
                  <a:srgbClr val="FF0000"/>
                </a:solidFill>
              </a:rPr>
              <a:t>sequential decisions by interacting with an environment.</a:t>
            </a: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agent learns to </a:t>
            </a:r>
            <a:r>
              <a:rPr lang="en-US" b="1" dirty="0">
                <a:solidFill>
                  <a:srgbClr val="FF0000"/>
                </a:solidFill>
              </a:rPr>
              <a:t>maximize cumulative rewards </a:t>
            </a:r>
            <a:r>
              <a:rPr lang="en-US" b="1" dirty="0"/>
              <a:t>over time through a trial-and-error.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RL- based RUL Predictor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0D1E68F7-16D1-9D4A-5B13-22028D6B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211710"/>
            <a:ext cx="2417212" cy="240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6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ABD4-76DB-8D3B-2C88-612762323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State</a:t>
            </a:r>
            <a:r>
              <a:rPr lang="en-US" b="1" dirty="0"/>
              <a:t> representation: operational settings, sensor measurements, and the current time cycle, forming the state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b="1" dirty="0"/>
              <a:t> space: two actions</a:t>
            </a:r>
          </a:p>
          <a:p>
            <a:pPr marL="825750" lvl="2" indent="-285750"/>
            <a:r>
              <a:rPr lang="en-US" b="1" dirty="0"/>
              <a:t>Performing maintenance</a:t>
            </a:r>
          </a:p>
          <a:p>
            <a:pPr marL="825750" lvl="2" indent="-285750"/>
            <a:r>
              <a:rPr lang="en-US" b="1" dirty="0"/>
              <a:t>Continuing operation without maintenance.</a:t>
            </a:r>
          </a:p>
          <a:p>
            <a:pPr marL="285750" lvl="1" indent="-285750"/>
            <a:r>
              <a:rPr lang="en-US" b="1" dirty="0">
                <a:solidFill>
                  <a:srgbClr val="FF0000"/>
                </a:solidFill>
              </a:rPr>
              <a:t>Reward</a:t>
            </a:r>
            <a:r>
              <a:rPr lang="en-US" b="1" dirty="0"/>
              <a:t> Scheme: </a:t>
            </a:r>
          </a:p>
          <a:p>
            <a:pPr marL="825750" lvl="2" indent="-285750"/>
            <a:r>
              <a:rPr lang="en-US" b="1" dirty="0"/>
              <a:t>+1 Each time step that the model performs maintenance when the current state shows a degradation in the RUL</a:t>
            </a:r>
          </a:p>
          <a:p>
            <a:pPr marL="825750" lvl="2" indent="-285750"/>
            <a:r>
              <a:rPr lang="en-US" b="1" dirty="0"/>
              <a:t>Reward is inversely proportional to the RUL.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RL- based RUL Predictive Maintenance Environment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436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00B1-F0C9-C0F6-253E-7DF90483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8AB3F89D-BFEC-A851-77AC-34EB64F30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54" y="1000500"/>
            <a:ext cx="7661438" cy="369728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Performance Comparison of Deep Learning Models: Comparison of evaluation metrics including MSE, MAE, and R-squared for CNN and LSTM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F01873-A370-486F-651E-D901CF3C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ＭＳ Ｐゴシック" charset="-128"/>
              </a:rPr>
              <a:t>Results: CNN and LSTM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5CDAAF-F33F-80D6-3BA3-96C3FDA1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906917"/>
              </p:ext>
            </p:extLst>
          </p:nvPr>
        </p:nvGraphicFramePr>
        <p:xfrm>
          <a:off x="683568" y="1923678"/>
          <a:ext cx="6907776" cy="2264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944">
                  <a:extLst>
                    <a:ext uri="{9D8B030D-6E8A-4147-A177-3AD203B41FA5}">
                      <a16:colId xmlns:a16="http://schemas.microsoft.com/office/drawing/2014/main" val="1882924023"/>
                    </a:ext>
                  </a:extLst>
                </a:gridCol>
                <a:gridCol w="1726944">
                  <a:extLst>
                    <a:ext uri="{9D8B030D-6E8A-4147-A177-3AD203B41FA5}">
                      <a16:colId xmlns:a16="http://schemas.microsoft.com/office/drawing/2014/main" val="2369791958"/>
                    </a:ext>
                  </a:extLst>
                </a:gridCol>
                <a:gridCol w="1726944">
                  <a:extLst>
                    <a:ext uri="{9D8B030D-6E8A-4147-A177-3AD203B41FA5}">
                      <a16:colId xmlns:a16="http://schemas.microsoft.com/office/drawing/2014/main" val="2609332417"/>
                    </a:ext>
                  </a:extLst>
                </a:gridCol>
                <a:gridCol w="1726944">
                  <a:extLst>
                    <a:ext uri="{9D8B030D-6E8A-4147-A177-3AD203B41FA5}">
                      <a16:colId xmlns:a16="http://schemas.microsoft.com/office/drawing/2014/main" val="373765123"/>
                    </a:ext>
                  </a:extLst>
                </a:gridCol>
              </a:tblGrid>
              <a:tr h="754883">
                <a:tc>
                  <a:txBody>
                    <a:bodyPr/>
                    <a:lstStyle/>
                    <a:p>
                      <a:r>
                        <a:rPr lang="en-US" dirty="0"/>
                        <a:t>Model/metric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611327"/>
                  </a:ext>
                </a:extLst>
              </a:tr>
              <a:tr h="754883"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76675"/>
                  </a:ext>
                </a:extLst>
              </a:tr>
              <a:tr h="754883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78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27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Results: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Training and Validation Losses for the CNN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6901-4426-3002-B9E6-640C1FDD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45264" y="922780"/>
            <a:ext cx="5453471" cy="38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4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Results: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Training and Validation Losses for the LSTM Model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6901-4426-3002-B9E6-640C1FDD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672" y="922780"/>
            <a:ext cx="5549388" cy="38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BFF2AF-30E9-C041-8B71-0885AA48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Results: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  <a:t>Relationship between Episodes and Total Rewards during Training</a:t>
            </a:r>
            <a:br>
              <a:rPr lang="en-CA" dirty="0">
                <a:solidFill>
                  <a:schemeClr val="accent1">
                    <a:lumMod val="50000"/>
                    <a:lumOff val="50000"/>
                  </a:schemeClr>
                </a:solidFill>
                <a:ea typeface="ＭＳ Ｐゴシック" charset="-128"/>
                <a:cs typeface="Arial"/>
              </a:rPr>
            </a:br>
            <a:endParaRPr lang="en-CA" dirty="0">
              <a:solidFill>
                <a:schemeClr val="accent1">
                  <a:lumMod val="50000"/>
                  <a:lumOff val="50000"/>
                </a:schemeClr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6901-4426-3002-B9E6-640C1FDD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9672" y="1117502"/>
            <a:ext cx="5549388" cy="34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4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970A-988D-526C-8344-B41685A0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73546017-C107-51C3-5883-8147EBD04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825750" lvl="2" indent="-285750">
              <a:lnSpc>
                <a:spcPct val="15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Translating the predictive maintenance problem </a:t>
            </a:r>
            <a:r>
              <a:rPr lang="en-US" altLang="en-US" b="1" dirty="0"/>
              <a:t>into a reinforcement learning (RL) environment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Interpreting the results</a:t>
            </a:r>
          </a:p>
          <a:p>
            <a:pPr marL="1185750" lvl="3" indent="-285750">
              <a:lnSpc>
                <a:spcPct val="150000"/>
              </a:lnSpc>
            </a:pPr>
            <a:r>
              <a:rPr lang="en-US" altLang="en-US" b="1" dirty="0"/>
              <a:t>Deeper understanding of the RL framework, including the environment, state space, action space, and reward structure.</a:t>
            </a:r>
          </a:p>
          <a:p>
            <a:pPr marL="1185750" lvl="3" indent="-285750">
              <a:lnSpc>
                <a:spcPct val="150000"/>
              </a:lnSpc>
            </a:pPr>
            <a:r>
              <a:rPr lang="en-US" altLang="en-US" b="1" dirty="0"/>
              <a:t>Using standard evaluation metrics such as Mean Squared Error (MSE), Mean Absolute Error (MAE), and R-squared (R2) value.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408CEC-04EB-623B-2985-FBCBC509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7C8"/>
                </a:solidFill>
                <a:ea typeface="ＭＳ Ｐゴシック" charset="-128"/>
              </a:rPr>
              <a:t>Limitations with the RL-Based RUL Predictor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96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00B1-F0C9-C0F6-253E-7DF90483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6">
            <a:extLst>
              <a:ext uri="{FF2B5EF4-FFF2-40B4-BE49-F238E27FC236}">
                <a16:creationId xmlns:a16="http://schemas.microsoft.com/office/drawing/2014/main" id="{8AB3F89D-BFEC-A851-77AC-34EB64F30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54" y="1000500"/>
            <a:ext cx="7661438" cy="369728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Potential </a:t>
            </a:r>
            <a:r>
              <a:rPr lang="en-US" altLang="en-US" b="1" dirty="0">
                <a:solidFill>
                  <a:srgbClr val="FF0000"/>
                </a:solidFill>
              </a:rPr>
              <a:t>Extension to Oil Well Maintenance Prediction</a:t>
            </a:r>
            <a:r>
              <a:rPr lang="en-US" altLang="en-US" b="1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Adapt </a:t>
            </a:r>
            <a:r>
              <a:rPr lang="en-US" altLang="en-US" b="1" dirty="0">
                <a:solidFill>
                  <a:srgbClr val="FF0000"/>
                </a:solidFill>
              </a:rPr>
              <a:t>RL evaluation</a:t>
            </a:r>
          </a:p>
          <a:p>
            <a:pPr marL="825750" lvl="2" indent="-285750">
              <a:lnSpc>
                <a:spcPct val="150000"/>
              </a:lnSpc>
            </a:pPr>
            <a:r>
              <a:rPr lang="en-US" altLang="en-US" b="1" dirty="0"/>
              <a:t>Compare predictions with actual RUL values using standard evaluation metrics (MSE, MAE, R2).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Scalability </a:t>
            </a:r>
            <a:r>
              <a:rPr lang="en-US" altLang="en-US" b="1" dirty="0"/>
              <a:t>and Deployment of models to large-scale industrial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Evaluate deployment in </a:t>
            </a:r>
            <a:r>
              <a:rPr lang="en-US" altLang="en-US" b="1" dirty="0">
                <a:solidFill>
                  <a:srgbClr val="FF0000"/>
                </a:solidFill>
              </a:rPr>
              <a:t>real-world scenarios</a:t>
            </a:r>
            <a:r>
              <a:rPr lang="en-US" altLang="en-US" b="1" dirty="0"/>
              <a:t> to understand effectiveness in different environments.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F01873-A370-486F-651E-D901CF3C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a typeface="ＭＳ Ｐゴシック" charset="-128"/>
              </a:rPr>
              <a:t>Future Research Directions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9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F60AA-792B-D430-C85A-EDBF1A1AF126}"/>
              </a:ext>
            </a:extLst>
          </p:cNvPr>
          <p:cNvSpPr txBox="1"/>
          <p:nvPr/>
        </p:nvSpPr>
        <p:spPr>
          <a:xfrm>
            <a:off x="3635896" y="2643758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C Brand 1">
      <a:dk1>
        <a:srgbClr val="002040"/>
      </a:dk1>
      <a:lt1>
        <a:sysClr val="window" lastClr="FFFFFF"/>
      </a:lt1>
      <a:dk2>
        <a:srgbClr val="486B7F"/>
      </a:dk2>
      <a:lt2>
        <a:srgbClr val="EEECE1"/>
      </a:lt2>
      <a:accent1>
        <a:srgbClr val="002040"/>
      </a:accent1>
      <a:accent2>
        <a:srgbClr val="2E526B"/>
      </a:accent2>
      <a:accent3>
        <a:srgbClr val="6A8999"/>
      </a:accent3>
      <a:accent4>
        <a:srgbClr val="A7B9C1"/>
      </a:accent4>
      <a:accent5>
        <a:srgbClr val="BECBD0"/>
      </a:accent5>
      <a:accent6>
        <a:srgbClr val="D0DCD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a58bd4-92a5-492d-b8cd-145501b599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30A2D411DF584B9B3A8AA29D7429FC" ma:contentTypeVersion="11" ma:contentTypeDescription="Create a new document." ma:contentTypeScope="" ma:versionID="c4dcb0b8b9a479569fa4fe98f1a9e8fd">
  <xsd:schema xmlns:xsd="http://www.w3.org/2001/XMLSchema" xmlns:xs="http://www.w3.org/2001/XMLSchema" xmlns:p="http://schemas.microsoft.com/office/2006/metadata/properties" xmlns:ns3="49a58bd4-92a5-492d-b8cd-145501b599b7" xmlns:ns4="764458fe-c77a-4854-9dc7-89d80c906bf8" targetNamespace="http://schemas.microsoft.com/office/2006/metadata/properties" ma:root="true" ma:fieldsID="1581655a24aafc3e104386dcd2bc867f" ns3:_="" ns4:_="">
    <xsd:import namespace="49a58bd4-92a5-492d-b8cd-145501b599b7"/>
    <xsd:import namespace="764458fe-c77a-4854-9dc7-89d80c906bf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a58bd4-92a5-492d-b8cd-145501b599b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4458fe-c77a-4854-9dc7-89d80c906bf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67235E-5F6B-44EA-93CB-AAD258D5C33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764458fe-c77a-4854-9dc7-89d80c906bf8"/>
    <ds:schemaRef ds:uri="http://schemas.microsoft.com/office/infopath/2007/PartnerControls"/>
    <ds:schemaRef ds:uri="http://schemas.microsoft.com/office/2006/documentManagement/types"/>
    <ds:schemaRef ds:uri="49a58bd4-92a5-492d-b8cd-145501b599b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AA77767-7D45-48B6-87F7-D4AF087F5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a58bd4-92a5-492d-b8cd-145501b599b7"/>
    <ds:schemaRef ds:uri="764458fe-c77a-4854-9dc7-89d80c906b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A8AE4D-427B-4657-B48D-B39C25A28C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8521</TotalTime>
  <Words>596</Words>
  <Application>Microsoft Office PowerPoint</Application>
  <PresentationFormat>On-screen Show (16:9)</PresentationFormat>
  <Paragraphs>75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ＭＳ Ｐゴシック</vt:lpstr>
      <vt:lpstr>Whitney Book</vt:lpstr>
      <vt:lpstr>Arial</vt:lpstr>
      <vt:lpstr>Calibri</vt:lpstr>
      <vt:lpstr>Office Theme</vt:lpstr>
      <vt:lpstr>Comparative Analysis of Predictive Maintenance Models for Turbofan Engines Using CNN, LSTM, and Reinforcement Learning. </vt:lpstr>
      <vt:lpstr>Introduction</vt:lpstr>
      <vt:lpstr>Background: Maintenance Policies</vt:lpstr>
      <vt:lpstr>Review of Previous Research:</vt:lpstr>
      <vt:lpstr>Data and Preprocessing</vt:lpstr>
      <vt:lpstr>CNN Architecture</vt:lpstr>
      <vt:lpstr>LSTM Architecture </vt:lpstr>
      <vt:lpstr>RL- based RUL Predictor </vt:lpstr>
      <vt:lpstr>RL- based RUL Predictive Maintenance Environment </vt:lpstr>
      <vt:lpstr>Results: CNN and LSTM</vt:lpstr>
      <vt:lpstr>Results: Training and Validation Losses for the CNN </vt:lpstr>
      <vt:lpstr>Results: Training and Validation Losses for the LSTM Model </vt:lpstr>
      <vt:lpstr>Results: Relationship between Episodes and Total Rewards during Training </vt:lpstr>
      <vt:lpstr>Limitations with the RL-Based RUL Predictor</vt:lpstr>
      <vt:lpstr>Future Research Directions</vt:lpstr>
      <vt:lpstr>PowerPoint Presentation</vt:lpstr>
    </vt:vector>
  </TitlesOfParts>
  <Manager/>
  <Company>UBC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UBC Powerpoint template (text)</dc:title>
  <dc:subject/>
  <dc:creator>Tina</dc:creator>
  <cp:keywords/>
  <dc:description/>
  <cp:lastModifiedBy>mjema@student.ubc.ca</cp:lastModifiedBy>
  <cp:revision>331</cp:revision>
  <cp:lastPrinted>2016-07-11T18:15:24Z</cp:lastPrinted>
  <dcterms:created xsi:type="dcterms:W3CDTF">2010-06-15T20:07:28Z</dcterms:created>
  <dcterms:modified xsi:type="dcterms:W3CDTF">2024-04-27T17:41:28Z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0x0101005C30A2D411DF584B9B3A8AA29D7429FC</vt:lpwstr>
  </property>
</Properties>
</file>